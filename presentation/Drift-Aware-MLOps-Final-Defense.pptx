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2e560bf64340d4" /><Relationship Type="http://schemas.openxmlformats.org/officeDocument/2006/relationships/extended-properties" Target="/docProps/app.xml" Id="R8ffc7b26c7824755" /><Relationship Type="http://schemas.openxmlformats.org/officeDocument/2006/relationships/officeDocument" Target="/ppt/presentation.xml" Id="Rfc182d7922da45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69b106e890478a"/>
  </p:sldMasterIdLst>
  <p:notesMasterIdLst>
    <p:notesMasterId xmlns:r="http://schemas.openxmlformats.org/officeDocument/2006/relationships" r:id="Rcd4b59416dce48a7"/>
  </p:notesMasterIdLst>
  <p:sldIdLst>
    <p:sldId xmlns:r="http://schemas.openxmlformats.org/officeDocument/2006/relationships" id="256" r:id="Rca94c0977a034a53"/>
    <p:sldId xmlns:r="http://schemas.openxmlformats.org/officeDocument/2006/relationships" id="257" r:id="Rc3eaaa0fe1f54b38"/>
    <p:sldId xmlns:r="http://schemas.openxmlformats.org/officeDocument/2006/relationships" id="258" r:id="R5941975322be426d"/>
    <p:sldId xmlns:r="http://schemas.openxmlformats.org/officeDocument/2006/relationships" id="259" r:id="R564ec91640044dbf"/>
    <p:sldId xmlns:r="http://schemas.openxmlformats.org/officeDocument/2006/relationships" id="260" r:id="Ra51615502e914993"/>
    <p:sldId xmlns:r="http://schemas.openxmlformats.org/officeDocument/2006/relationships" id="261" r:id="Rf9f0438d77144204"/>
    <p:sldId xmlns:r="http://schemas.openxmlformats.org/officeDocument/2006/relationships" id="262" r:id="R15a88da5acc04fb9"/>
    <p:sldId xmlns:r="http://schemas.openxmlformats.org/officeDocument/2006/relationships" id="263" r:id="Rffece0a682214dd9"/>
    <p:sldId xmlns:r="http://schemas.openxmlformats.org/officeDocument/2006/relationships" id="264" r:id="Raed668215dbc48e9"/>
    <p:sldId xmlns:r="http://schemas.openxmlformats.org/officeDocument/2006/relationships" id="265" r:id="Re7a3a49a902146b3"/>
    <p:sldId xmlns:r="http://schemas.openxmlformats.org/officeDocument/2006/relationships" id="266" r:id="R0810d36cec9c44a2"/>
    <p:sldId xmlns:r="http://schemas.openxmlformats.org/officeDocument/2006/relationships" id="267" r:id="R7cef59226e9e42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9b106e890478a" /><Relationship Type="http://schemas.openxmlformats.org/officeDocument/2006/relationships/theme" Target="/ppt/theme/theme1.xml" Id="R52cd72a9386d4980" /><Relationship Type="http://schemas.openxmlformats.org/officeDocument/2006/relationships/notesMaster" Target="/ppt/notesMasters/notesMaster1.xml" Id="Rcd4b59416dce48a7" /><Relationship Type="http://schemas.openxmlformats.org/officeDocument/2006/relationships/presProps" Target="/ppt/presProps.xml" Id="R50e512398172426c" /><Relationship Type="http://schemas.openxmlformats.org/officeDocument/2006/relationships/viewProps" Target="/ppt/viewProps.xml" Id="Rde87cfb2ac1e45e1" /><Relationship Type="http://schemas.openxmlformats.org/officeDocument/2006/relationships/tableStyles" Target="/ppt/tableStyles.xml" Id="R758a8a42ffbd48a0" /><Relationship Type="http://schemas.openxmlformats.org/officeDocument/2006/relationships/slide" Target="/ppt/slides/slide1.xml" Id="Rca94c0977a034a53" /><Relationship Type="http://schemas.openxmlformats.org/officeDocument/2006/relationships/slide" Target="/ppt/slides/slide2.xml" Id="Rc3eaaa0fe1f54b38" /><Relationship Type="http://schemas.openxmlformats.org/officeDocument/2006/relationships/slide" Target="/ppt/slides/slide3.xml" Id="R5941975322be426d" /><Relationship Type="http://schemas.openxmlformats.org/officeDocument/2006/relationships/slide" Target="/ppt/slides/slide4.xml" Id="R564ec91640044dbf" /><Relationship Type="http://schemas.openxmlformats.org/officeDocument/2006/relationships/slide" Target="/ppt/slides/slide5.xml" Id="Ra51615502e914993" /><Relationship Type="http://schemas.openxmlformats.org/officeDocument/2006/relationships/slide" Target="/ppt/slides/slide6.xml" Id="Rf9f0438d77144204" /><Relationship Type="http://schemas.openxmlformats.org/officeDocument/2006/relationships/slide" Target="/ppt/slides/slide7.xml" Id="R15a88da5acc04fb9" /><Relationship Type="http://schemas.openxmlformats.org/officeDocument/2006/relationships/slide" Target="/ppt/slides/slide8.xml" Id="Rffece0a682214dd9" /><Relationship Type="http://schemas.openxmlformats.org/officeDocument/2006/relationships/slide" Target="/ppt/slides/slide9.xml" Id="Raed668215dbc48e9" /><Relationship Type="http://schemas.openxmlformats.org/officeDocument/2006/relationships/slide" Target="/ppt/slides/slide10.xml" Id="Re7a3a49a902146b3" /><Relationship Type="http://schemas.openxmlformats.org/officeDocument/2006/relationships/slide" Target="/ppt/slides/slide11.xml" Id="R0810d36cec9c44a2" /><Relationship Type="http://schemas.openxmlformats.org/officeDocument/2006/relationships/slide" Target="/ppt/slides/slide12.xml" Id="R7cef59226e9e42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711109f3dd4e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125f747d1d48f3" /><Relationship Type="http://schemas.openxmlformats.org/officeDocument/2006/relationships/notesMaster" Target="/ppt/notesMasters/notesMaster1.xml" Id="Rdc09bdac6f49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6208b846174d18" /><Relationship Type="http://schemas.openxmlformats.org/officeDocument/2006/relationships/notesMaster" Target="/ppt/notesMasters/notesMaster1.xml" Id="R303ca39db0b343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549eb80a724587" /><Relationship Type="http://schemas.openxmlformats.org/officeDocument/2006/relationships/notesMaster" Target="/ppt/notesMasters/notesMaster1.xml" Id="Rd4cc2a87fb314f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74874641094b3e" /><Relationship Type="http://schemas.openxmlformats.org/officeDocument/2006/relationships/notesMaster" Target="/ppt/notesMasters/notesMaster1.xml" Id="Rb1eec6d5dd2344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18871d2c274d70" /><Relationship Type="http://schemas.openxmlformats.org/officeDocument/2006/relationships/notesMaster" Target="/ppt/notesMasters/notesMaster1.xml" Id="R50b1432e656e4a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476d969a23425b" /><Relationship Type="http://schemas.openxmlformats.org/officeDocument/2006/relationships/notesMaster" Target="/ppt/notesMasters/notesMaster1.xml" Id="Rab6f9392a39d4d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cf2cdb587648f1" /><Relationship Type="http://schemas.openxmlformats.org/officeDocument/2006/relationships/notesMaster" Target="/ppt/notesMasters/notesMaster1.xml" Id="Re7dffda3fe934d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209168d9d64270" /><Relationship Type="http://schemas.openxmlformats.org/officeDocument/2006/relationships/notesMaster" Target="/ppt/notesMasters/notesMaster1.xml" Id="Rc226e82469fa4c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88fb2d31a7494b" /><Relationship Type="http://schemas.openxmlformats.org/officeDocument/2006/relationships/notesMaster" Target="/ppt/notesMasters/notesMaster1.xml" Id="R377d7654120b46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79b092d3f24665" /><Relationship Type="http://schemas.openxmlformats.org/officeDocument/2006/relationships/notesMaster" Target="/ppt/notesMasters/notesMaster1.xml" Id="R1193717d39604d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bf56d442e04ac6" /><Relationship Type="http://schemas.openxmlformats.org/officeDocument/2006/relationships/notesMaster" Target="/ppt/notesMasters/notesMaster1.xml" Id="R82801810688542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efc4aeba4f4523" /><Relationship Type="http://schemas.openxmlformats.org/officeDocument/2006/relationships/notesMaster" Target="/ppt/notesMasters/notesMaster1.xml" Id="R518809646f84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fd98d69284ad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3de062b22ed4cd3" /><Relationship Type="http://schemas.openxmlformats.org/officeDocument/2006/relationships/slideLayout" Target="/ppt/slideLayouts/slideLayout2.xml" Id="R8862f85dece348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62f85dece348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84e21155742e4" /><Relationship Type="http://schemas.openxmlformats.org/officeDocument/2006/relationships/image" Target="/ppt/media/image.png" Id="Ra7d9e67e185543f5" /><Relationship Type="http://schemas.openxmlformats.org/officeDocument/2006/relationships/notesSlide" Target="/ppt/notesSlides/notesSlide1.xml" Id="R95337eb5d5cf49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ca5314920c4bca" /><Relationship Type="http://schemas.openxmlformats.org/officeDocument/2006/relationships/notesSlide" Target="/ppt/notesSlides/notesSlide2.xml" Id="R67b367eed91d4a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d37d65895b44a8" /><Relationship Type="http://schemas.openxmlformats.org/officeDocument/2006/relationships/notesSlide" Target="/ppt/notesSlides/notesSlide3.xml" Id="Rcc457297594f43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16f9592d8c4667" /><Relationship Type="http://schemas.openxmlformats.org/officeDocument/2006/relationships/notesSlide" Target="/ppt/notesSlides/notesSlide4.xml" Id="Red8a3677a68c46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0bcbc34c6242d7" /><Relationship Type="http://schemas.openxmlformats.org/officeDocument/2006/relationships/notesSlide" Target="/ppt/notesSlides/notesSlide5.xml" Id="Rac8fbcbf1b2f4e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0e74d4763b4435" /><Relationship Type="http://schemas.openxmlformats.org/officeDocument/2006/relationships/image" Target="/ppt/media/image2.png" Id="R8966391029714b3b" /><Relationship Type="http://schemas.openxmlformats.org/officeDocument/2006/relationships/notesSlide" Target="/ppt/notesSlides/notesSlide6.xml" Id="Rc840abeadfb24d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aa380baa5b4017" /><Relationship Type="http://schemas.openxmlformats.org/officeDocument/2006/relationships/notesSlide" Target="/ppt/notesSlides/notesSlide7.xml" Id="R75dc5d477a7d4d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10449748a4b79" /><Relationship Type="http://schemas.openxmlformats.org/officeDocument/2006/relationships/image" Target="/ppt/media/image3.png" Id="R6b25ef48b31e4023" /><Relationship Type="http://schemas.openxmlformats.org/officeDocument/2006/relationships/image" Target="/ppt/media/image4.png" Id="Rb59e9f526ced480d" /><Relationship Type="http://schemas.openxmlformats.org/officeDocument/2006/relationships/image" Target="/ppt/media/image5.png" Id="R490205b1dc534ee9" /><Relationship Type="http://schemas.openxmlformats.org/officeDocument/2006/relationships/notesSlide" Target="/ppt/notesSlides/notesSlide8.xml" Id="R85223f1562ac47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1c41cbd03d4f3f" /><Relationship Type="http://schemas.openxmlformats.org/officeDocument/2006/relationships/notesSlide" Target="/ppt/notesSlides/notesSlide9.xml" Id="Rfe42e6c7216841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d74e0fef404ad2" /><Relationship Type="http://schemas.openxmlformats.org/officeDocument/2006/relationships/image" Target="/ppt/media/image6.png" Id="R55f06fa913dd450d" /><Relationship Type="http://schemas.openxmlformats.org/officeDocument/2006/relationships/image" Target="/ppt/media/image7.png" Id="R04084cb41b7a480e" /><Relationship Type="http://schemas.openxmlformats.org/officeDocument/2006/relationships/image" Target="/ppt/media/image8.png" Id="Rd7ad97843b654515" /><Relationship Type="http://schemas.openxmlformats.org/officeDocument/2006/relationships/notesSlide" Target="/ppt/notesSlides/notesSlide10.xml" Id="Rd18daeb2b8ad4d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1f64a30e5b42a9" /><Relationship Type="http://schemas.openxmlformats.org/officeDocument/2006/relationships/image" Target="/ppt/media/image9.png" Id="R4e2b602f5f8d4930" /><Relationship Type="http://schemas.openxmlformats.org/officeDocument/2006/relationships/image" Target="/ppt/media/image10.png" Id="Rd5800cb659654b69" /><Relationship Type="http://schemas.openxmlformats.org/officeDocument/2006/relationships/notesSlide" Target="/ppt/notesSlides/notesSlide11.xml" Id="R621361a14d4748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1dbb7d496f4f7f" /><Relationship Type="http://schemas.openxmlformats.org/officeDocument/2006/relationships/notesSlide" Target="/ppt/notesSlides/notesSlide12.xml" Id="R5416b6ae04634b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C65AF0-0B55-442A-BC7D-9016AC4D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05A50-C0FC-4FCE-9D7F-9FABDFCE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97480-FF10-45F8-822C-0DD72F3B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9e67e185543f5"/>
          <a:stretch xmlns:a="http://schemas.openxmlformats.org/drawingml/2006/main"/>
        </p:blipFill>
        <p:spPr>
          <a:xfrm xmlns:a="http://schemas.openxmlformats.org/drawingml/2006/main">
            <a:off x="7000875" y="1052563"/>
            <a:ext cx="4762500" cy="271452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7333F-729B-4630-8A1E-6C324BFA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82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FDFA8-9BD9-4C79-80AA-0E7C4602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FINAL DEFENSE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092EC-B5D0-4954-B4A9-4D7EB7FC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Drift-Aware Adaptive Retraining MLOps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1DE3B-7045-4E7E-BF30-01793FF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A complete Track-II MLOps research project: HybridDD, MLflow, Docker, Prometheus, Grafana, CI/CD, experiments, IEEE paper, and live demo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22FAA-2524-4A36-B515-E74F52CF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227FD-AF8F-43BD-A966-34500BF8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8B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8B5A"/>
                </a:solidFill>
                <a:latin typeface="Georgia"/>
                <a:ea typeface="Georgia"/>
                <a:cs typeface="Georgia"/>
              </a:rPr>
              <a:t>100/100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16193-CDFE-4B3C-81DC-E2E5D07C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rubric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2C8F3-D7B5-4807-926D-A0E09D6F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338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B88C0-C823-4147-B91D-1D04CD21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81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0B291-DC48-46AA-9A2E-414EB930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291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multi-seed benchmark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99E0F-0710-4558-AB75-5231767E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A607D-C22A-40E4-9497-3CE394B9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481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AB46F-854B-4357-870B-29130A23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291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applicable statistical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B6EB3-3987-41AF-8C89-B53FB0D9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Defense promise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80A29-6A1F-41D9-AA74-099BB198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grading category is tied to a working artifact, a repository path, and a demo step.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9968D-032F-438A-8FA5-242986D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EDDC2-4985-4579-8722-F804F370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Repository evidence: README.md, docs/RUBRIC_MAPPING.md, paper/main.pdf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29B3B-0FA6-4DBC-9BD6-90E267DB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54275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A53325-5D72-496D-B45F-7E90B09D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F6022-820F-45A7-9D6B-90317D23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543F6-C9C0-4110-BDC2-0FEE9780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B3D0CC94-1138-4F01-B9C9-E2DF0C7E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RUBRIC SCORECARD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49D71-B449-4A3A-BE93-0892528A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project is packaged to hit every weighted criterion.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F1141-8A5E-47C3-9E7B-ECA8A519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slide mirrors the evaluator's rubric so the grading logic is explicit.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B12FD-C396-4890-A875-32BE34F7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874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26577-BB43-4939-9319-F1BB2F74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Criterion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3323F-1872-4923-8388-671B12CE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19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6C4B9-35C8-4268-BCC8-E2E3ACCA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13CBC-FC09-4FAE-A474-7B78205B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57C9D-543E-4AA5-831C-342A4438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998AD-B385-420D-98AF-2676CFB1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497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Primary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99DF4-D48B-4242-82C4-E46E8319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050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6B46A-C2D2-4532-B1F9-221735CC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874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18B37-6175-4756-81D7-1B02B3E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 novelty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6FB44-4C38-4A1C-9CC3-09180A97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D07DE-CEA1-4E3A-8F3E-860D7A8D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703DD-A2CC-42EB-BEE0-EDD65D9F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20/20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1688A-5365-43DA-9FBA-5028B623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5EAEE-31EB-44F7-A2B8-D89CFDD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497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HybridDD, RQs, 19 references, IEEE 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65549-E943-4C23-B5BD-373E8432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D1A7A-AF89-4AEE-8C23-6335BD30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874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29891-8F3A-4083-886F-1F413F3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Technical implementation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5E4ED-40E9-4104-9D9D-D8578000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337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0BCF6-1F3A-44C0-B79E-AC423D44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899EE-53B7-45E9-AE50-558AA30F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25/25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A33AB-889F-4CD1-BE8D-8F53781D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44628C-6BC8-45C8-B70D-05B6F0EC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497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FastAPI, MLflow, Docker, CI/CD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818A53-7EBB-4BCA-B84F-6440DF9E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19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B8A810-F904-48C9-A10A-ED6E266E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874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B5F68-1579-47C0-A3C8-27F38066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Design quality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46FFCE-C049-4D70-91CF-695698A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0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32559B-45FD-4364-8638-B38E1C2D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766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6B6066-0735-4DD5-AC0E-A5C18DFD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C619CC-60F4-4499-ABDC-E92A2501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1B327-DFF3-46B5-AFF7-0540B6D8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90950"/>
            <a:ext cx="497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Modular services and architecture diagrams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8BBE99-9CE0-4150-9F07-246EFD21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766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78D245-3815-49C3-9E1F-A4901340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874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7D050E-9474-49BA-96B8-A3AE12B2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Monitoring depth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3C90A6-47D8-4733-9B50-D6B90A85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481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EE6E56-0BD0-4894-851B-F68F9930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A3D2D9-298E-444F-8518-954D7774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10/10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F7A741-E4C8-4060-9CFD-F9D8AFBE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742E02-D6D2-47F4-8841-C8E4320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48150"/>
            <a:ext cx="497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Prometheus, Grafana, alerts, drift service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F5F3EB-6B35-4041-BE5C-7D3181F2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338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058F0C-0638-4F5C-A59C-FC955B65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874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49A7D3-6F76-4F52-9952-90D707D5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Experimental rigor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45A248-E597-4032-8B2F-47B87FE4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05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6237B8-6D89-45C1-B5F2-71064498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F49BD3-2F7E-48DA-80CE-AA259940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053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502FFB-4315-4BEF-A32B-0D69225A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2FE2DE-40C7-4E8D-AB71-C8E98293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05350"/>
            <a:ext cx="497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Multi-seed runs plus Friedman/Nemenyi tests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2863E6-8CE6-4896-AB0A-C48EC05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910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4C6838-0C16-41D4-8113-87821D1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874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15FEB4-F67C-4E66-AF82-B5312172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Documentation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CFCD28-4730-4C08-8468-24973F74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625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100F39-241B-4991-A73F-08C1D906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482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E34A59-2F8B-4E4B-85BD-EF32CB71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625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A6B67B-EB1D-4CA0-A2FA-286830CF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2F922E-0F83-48E1-A408-82BCB030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62550"/>
            <a:ext cx="497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README, docs, paper, screenshots, demo video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91D95D-EBED-4798-B723-CDEC15CE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482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2B68A4-C865-4695-BB49-C0B54E64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E435C5-6F25-4346-B996-96B9406F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193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EAC33F-9AD2-45CD-85E4-A7C56101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total target score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ACD011-58BA-4A44-8E6A-17D25B9A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D8E610-0027-468D-8373-AA73642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861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6/6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B20AFD-7503-4B9B-854D-04A5E271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67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rubric sections covered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14EB18-44B8-4645-925A-98E5A914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386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A643F0-26D9-4A4F-BB46-906A8A0C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529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8B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8B5A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42A2D31-6803-44C9-935C-ACC69E73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339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mandatory gaps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B62C14-A02A-44FC-B890-91B1E8E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C303C7-995B-4037-9630-D330BB61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Evidence map: docs/RUBRIC_MAPPING.md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7AE4EC-26E0-42B0-900E-7EC92A39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830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4901ED-B4FB-4E24-BB25-6E447A5F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6FA7F-651A-4AB8-B133-075E9C2C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80ED4-A7DE-4BC6-9196-6CD8CADE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5D06FC18-F291-4C03-ADA3-4045D7B7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RESEARCH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49ACF-C55D-4317-9C28-C483C16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Static ML pipelines fail quietly when the stream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B26F7-2856-4458-85EC-A6E06B2C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project studies concept drift as both a model-quality problem and an operations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B9624-0E80-4EFA-AD13-46814C8C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933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7C50E-A151-4989-9DA7-A0DF809F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CF952-4949-4861-9781-4F45B208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C47FC-CC0F-492C-8219-9C5F8F8D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6C2D2-0278-47C8-8D05-8B835AA7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433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Reference distribution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6F2B0-BC76-47DA-A3BE-F2F9FC8E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613E8-A5F0-4CE8-B13A-4D5D5CB7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03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4721A-A529-4055-A485-25E4F04C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3750A-5E76-43E3-9812-3D7B8DC3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433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Model serves traffic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169B2-90D0-4AA9-909E-1A618EDB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D01AC-DF09-4E1C-AEE2-AE8BE6F5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003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6766F-801E-4C02-AEBB-F40F10B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85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Drift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93441-3187-47A7-9945-22007094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433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Feature or concept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CCBCE8-0B77-4F5F-B56D-D3460A76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E06AC-85C1-417B-9ACC-F737F59E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03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6BB0A-B776-4F4E-8376-DE8407E1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385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B443BA-11DE-4AC9-A86C-57E366C1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Metrics expose degradation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25E091-90F7-494E-AB7C-4AD68888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20011-D7F0-442C-A15A-F2809A5D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003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F8A6D-7A58-4BC7-AA71-B9869E17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Adapt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C2EB9-C3F0-47B5-A4FA-EFAD1B4C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Reload/retrain safely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66B9C-B08C-4840-BFF6-62168C7F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1BCC4-642A-4216-B26E-8874D27C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6FDFA-FDE0-4351-9F4A-468474A0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3B3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B2302F-ECB6-45F7-99D4-53634164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91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Without drift-aware monitoring, the model can remain technically healthy while the prediction boundary is already stale.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DED1C7-439F-4E7B-A41B-C240434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958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5BD11-5568-4C47-AA1F-85BA64FA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95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3F2D88-BD0C-42F4-BFAD-C31A08A6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Research framing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524EB0-2614-455E-8441-1131FF1A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291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RQ1-RQ4 connect detector quality, monitoring reuse, latency and throughput trade-offs, and reproducibility.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1ACC98-D571-4979-9D95-39F6F8BE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A365F1-972C-4C74-A741-1EA982C5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B50550-2418-43FB-976A-E3196D3D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8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8B5A"/>
                </a:solidFill>
                <a:latin typeface="Aptos"/>
                <a:ea typeface="Aptos"/>
                <a:cs typeface="Aptos"/>
              </a:rPr>
              <a:t>Deliverable fit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212602-5882-4823-A9E8-8F8B2E8B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291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problem naturally requires experiment tracking, deployment, monitoring, CI/CD, and a research paper.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B093DB-8DB7-41EA-A0AB-47AFFF6A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E853C3-3880-41E1-A663-BB265B76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Research source: docs/RESEARCH.md and paper/main.tex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87E2AB-C267-40A6-AF7B-98193C19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3404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3B57F-F88B-4C0C-93EE-90555ED4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0503A-AAE4-4030-B220-E1E2E5C3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E3861-6767-473C-B898-B869DFA7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DC17B911-8CB4-4920-91D7-A7315AEE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LITERATURE TO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B7D72-C49D-498B-84DD-82DC4071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literature motivates a hybrid alarm, not another isolated detector.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735B3-9385-4FF3-84A9-3C9AEE0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bibliography covers concept drift, stream learning, MLOps readiness, MLflow, and statistical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46113-A5B9-4774-B3E0-61AE26A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7BCD3-CE03-458A-88CE-139198C9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Literature cluster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80BD7-424C-4DB6-A2D8-1EFBBD33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concepts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F1FDA-98B9-41E1-A365-20E01CB6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24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54FD0-8184-41AD-A93A-17A79384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3840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Gap used in this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5A2E1-7778-4791-8EF1-73ABA315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E27B3-2E59-46FC-9340-0568FE50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FC756-04A0-4319-B985-2FA62C78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Drift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04BA5-FED5-4019-AC99-AE990935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ADWIN, DDM, EDDM, KSWIN, Page-Hinkley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208D0-D130-4D44-9C09-A0FFCC5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765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017AB-35D0-4529-9928-8D7BBE2D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Single detectors optimize different failure modes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969A3-1192-4238-9E5B-4742323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0529A-27F9-4DF1-AC12-7BDB53C0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28A69-C6FE-424B-A683-C46F1463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Online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3B119-48BF-4B2E-81AC-3AAE8233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4330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Prequential testing, Hoeffding tree, SGD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CD1E6-85EA-4E3A-A5BE-8E05592E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D911F-D5B9-48D1-8643-F4759765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4330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Evaluation must be stream-native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D1707-E884-472B-A95A-2DB05291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BC6C9-1468-4970-A10E-E859A636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DADAE-09F3-45C2-8945-9C3D4229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Production ML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E9C6E-60E3-470E-8025-AA6E3F75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Technical debt, ML readiness, deployment cases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CBE5B-C4E7-49D3-9276-C880F01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814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325F0A-8A02-4ABD-86C4-FA4BC27F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Monitoring and adaptation need system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8070CC-1BF4-44B8-9986-C574977B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814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0B0EB6-ADBC-4D30-9B57-7798AAFD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92915B-F260-4C66-B14F-F1C6FDFA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9A5A3B-0992-4EDC-A385-58CC6457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4820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Friedman and Nemenyi comparisons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064E76-4E0F-409E-ABE5-8B5DAD08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33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559A36-B453-4C37-83A5-E9315F89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20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Detector claims need repeated blocks, not anecdotes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6CB59F-8ED8-4153-9A33-2D532400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33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E357AE-4F09-4B35-A981-8CF373FF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1BC0DB-4092-4D6C-B81D-93FF916A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0F3D0D-4EC1-4B6B-8653-CCEE5303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721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Novelty statement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65A9CE-185B-4BDE-AD6C-994C8186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00700"/>
            <a:ext cx="281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HybridDD combines performance drift and feature-distribution drift with consensus, confidence override, and cooldown logic.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25F90D-6DA3-4E23-AAC8-457C8346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E8F8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ED4FE8-3705-40FD-9BE5-78003576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85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19 references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38EC0D-4D06-4EE6-B60C-EE89821F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57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E8F8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BAE413-74B5-44B0-80EE-0F47BC8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149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4 research questions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FC10E0-FDC0-4A5A-9666-E974513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578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E8F8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A9E903-2985-4F2D-851B-2204D358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6 detectors compared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550D87-C55D-4EFA-BFB0-A8343143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5C9CAE-FBFD-4CBB-BD82-7DAD6A2C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Bibliography: paper/refs.bib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FD0A30-B4EB-4798-B4A5-B605DB34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47812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034A3-D6F3-4633-A45D-441F9AAA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471BB-A8EB-4300-AFAC-1356AD3B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924F9-7168-466B-99A1-65D21A14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B297BF97-4363-4BE3-977E-26715D3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HYBRIDDD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0A72B-30E8-4618-939A-65A99438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HybridDD turns two weak signals into one safer retraining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077A5-6858-4F7D-9643-73399E2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detector is intentionally conservative: reduce retraining storms while still surfacing severe degradation.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881FD-43A7-4AF2-B8FD-31FCB60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2815F-FAED-40A1-98A5-F000E532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0F36A-9E5D-4C9A-B5BD-EFFDB114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3B3B"/>
                </a:solidFill>
                <a:latin typeface="Aptos"/>
                <a:ea typeface="Aptos"/>
                <a:cs typeface="Aptos"/>
              </a:rPr>
              <a:t>Prediction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27D44-DF1B-44EA-A146-99EEDB70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DDM watches rising error rate.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B1C69-15AC-4A41-962C-83142838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7C242-43C2-4E2E-AC68-4A96D9A3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DCA58-0F10-4F1D-B7B7-04B2D90F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Feature shift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4961E-67EF-4738-BC32-2EE78402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KSWIN watches distribution movement.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A1E71-E657-4922-896E-6179C3CC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F9C23-75AF-4535-B15F-AF49E775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15CFD-2B3B-4C9D-9E1F-CE4C572C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099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Consensus window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BB6C7-172C-4D20-B3A7-81E68E75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Signals must agree within a recent window.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E8402-7447-4F62-8614-D786BCD8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1B694-033C-4220-A96F-43FAC03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5E907-19F6-4324-A578-037C69D8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3B3B"/>
                </a:solidFill>
                <a:latin typeface="Aptos"/>
                <a:ea typeface="Aptos"/>
                <a:cs typeface="Aptos"/>
              </a:rPr>
              <a:t>Confidence override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47B37-6DBF-4D22-855B-B4AC2AB1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Severe error can bypass consensus.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FA534-1701-4115-BD4D-E1D1FE9E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814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15757-FC0E-46E1-B4F3-980BC224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814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B7572-B8CA-4E07-BBA1-7E14B31C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8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8B5A"/>
                </a:solidFill>
                <a:latin typeface="Aptos"/>
                <a:ea typeface="Aptos"/>
                <a:cs typeface="Aptos"/>
              </a:rPr>
              <a:t>Cooldown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3720B-D69F-492D-963B-4324B649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243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Suppresses repeated alarms.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F2665-19F1-4184-B038-FDCAC066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956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9FC1E-93DE-4976-9A3B-A2FFCB60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956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17F38-565F-4AC1-8328-09D475B7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099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Drift event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27FB3-C07D-4E64-A4F6-C2C62940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385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Trigger metrics and reload.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5995F-33FB-4D8F-92CE-C5E6A294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A4CF8D-108F-4766-8FC8-D85D5D14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568CA2-BB27-41E2-980E-44F529CE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F92C86-189E-4CFC-838B-7837FBC9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D1D40-63B6-473A-B3E3-25266FD6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46CD8F-8609-4C3E-8322-A428326B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Research trade-off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B91DFE-1EC2-4426-B653-2DC1A17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HybridDD is not designed to be the fastest possible detector in every short stream. It is designed to balance accuracy, false positives, and operational safety.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F32E14-433D-4AAB-85E7-B299F5C0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A70A79-6445-4049-8BC7-A25C8E5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Core implementation: src/drift/detectors.py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DF7DF4-BF2B-4D53-AA78-84794DE7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60033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4D178-91EF-476F-9CBE-C36FCCDE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60D23-183E-4C16-AC97-28ADDA9D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6AAE7-3B43-4392-B347-CF0F9FB8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75601C7-F40D-45E8-B68B-37BB1DD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55840-9EF8-4AA6-96F2-7802D27C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project is a deployable MLOps system, not a notebook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48620-1B1F-4712-85BC-44C2DEE5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Four planes separate inference, experiment tracking, monitoring, and delivery.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6391029714b3b"/>
          <a:stretch xmlns:a="http://schemas.openxmlformats.org/drawingml/2006/main"/>
        </p:blipFill>
        <p:spPr>
          <a:xfrm xmlns:a="http://schemas.openxmlformats.org/drawingml/2006/main">
            <a:off x="1018221" y="2266950"/>
            <a:ext cx="6383658" cy="3638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91A54-3A29-4589-861B-72345DF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84B02-4664-4D22-A143-71B5F8BB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384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8F8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E8F8F"/>
                </a:solidFill>
                <a:latin typeface="Georgia"/>
                <a:ea typeface="Georgia"/>
                <a:cs typeface="Georgia"/>
              </a:rPr>
              <a:t>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0E6AB-07DE-465D-9688-567DE570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FastAPI /predict, /health, /reload, /metrics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47FEE-A684-47B7-9C6F-7C98426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E065A-7F75-4442-B9A6-00050DAA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C2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D98C2B"/>
                </a:solidFill>
                <a:latin typeface="Georgia"/>
                <a:ea typeface="Georgia"/>
                <a:cs typeface="Georgia"/>
              </a:rPr>
              <a:t>Tracking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DE32A-3A84-4EBE-81D5-E92747B4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MLflow plus Postgres backend 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4A556-6904-4437-B6D1-79B8DA16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2C641-AF6F-45B2-AA0C-51398CB6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339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8B5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28B5A"/>
                </a:solidFill>
                <a:latin typeface="Georgia"/>
                <a:ea typeface="Georgia"/>
                <a:cs typeface="Georgia"/>
              </a:rPr>
              <a:t>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DDFB6-59EF-40B3-934E-CF13EB47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149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Prometheus, Grafana, drift metrics, alerts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BC19F-62D1-4963-857F-1762B2B6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DEB48-6117-4BF6-B2B5-DF776085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5816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CI/CD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4AFAF-53C5-4A0F-8B06-C12751CC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9626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Tests, lint, Docker build, paper build, ECS 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87E98-966E-4E6A-A7C4-8F2E43E0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51EF4-42C3-4D2E-AEA9-DED25F71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Architecture guide: docs/ARCHITECTURE.md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9BCD4-CA76-4366-8EF9-6A3C7153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14581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8D19B-0F26-458A-84AC-72E8F96D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5B59B-2F47-452F-A969-51B838A2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2BD75-016F-47C7-AC79-CAAF9C11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BF939AA2-A5FA-4A35-99CA-541E343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TECHNICAL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5DDD6-41DF-476A-B006-B271C84B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mandatory stack is implemented end to 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7B61B-6DFC-4D0A-A565-5D07BB94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Each requirement has executable code, configuration, and demo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F1892-3C16-4A09-85F1-CB64DF41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6660D-FD5A-4C51-92D3-F44728C4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DDD00-46EC-4C12-860E-90ECFB9E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3840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EE3E5-64BF-4A42-9D8E-F8C8F536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241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8307F-8073-434D-B4A4-DEBC69C2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Repository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A3810-223A-46DC-AD78-6EBA352E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5F0E0-AC53-4F17-A56B-28783F3D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8E37C-460E-48CA-B7C2-93AC5E4B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MLflow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F6056-6C6F-4403-9326-29BD35C0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runs, metrics, artifacts, tracking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8C432-919B-45F3-B514-4FF23433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003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1FA61-DFD5-47E7-949A-9535F42D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src/pipelines/train.py; Dockerfile.mlflow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76C79-669D-4A39-8AEF-E13691F6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9F546-6BA2-4512-84CA-7ED4FC01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6A9A5-9776-4228-A07F-B1402ED0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5F588-D1F4-4869-AADE-DB4D1752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9090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API, trainer, drift monitor, MLflow, Postgres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9B36B-D6A6-4EE4-BAD7-6C60E4A8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766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A5412-FE56-449B-9005-F3015A22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docker-compose.yml; deploy/docker/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B4CD7-FDDB-4D29-B082-E1EC928A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E5348-64AA-4DA8-8E51-6C1EF9C5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34EAB-850C-4AC0-B78A-965A06EE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Prometheus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79DC8-BCCB-43D8-80B0-8D394F9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6715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API and drift monitor scrape targets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E5BF2C-6F09-476D-8AAD-021A7993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528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CA370-61A7-4FB5-BB7F-E6FF1B5C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deploy/prometheus/prometheus.yml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F3F276-3368-4C11-9146-E8D3F0CF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528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BF4DBB-A159-4B7D-8A6F-DF053032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7304B0-EEA9-4999-A735-778ACBF4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Grafana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BD5DBC-9C6E-4D06-A5F0-46A23427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Provisioned model, drift, infra dashboards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D6D8D3-A155-41B7-9BF1-4E897BED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291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9A6C9D-DE2D-48A3-8551-4E1736C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deploy/grafana/dashboards/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6AFF2A-B00D-4AF8-838E-272EEB27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9A4930-78D0-4382-857B-E096D767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E17EC5-2ADA-4594-A55C-88CF5BB8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6F110-E6E1-45B9-8B14-DDA15E10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965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Lint, tests, smoke experiment, Docker build, deploy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CBA30F-1233-4E20-8DA5-4E62E126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053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18D372-2B83-40EC-844E-734E624D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9650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.github/workflows/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00773A-18A4-495C-8276-D22671C2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053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30383D-C3C6-438B-A5F4-16D750D3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3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602FFD-93CC-4AEE-8B2A-9532AAC6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15CB81-956F-4197-944C-771FB506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9590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Compose plus optional AWS ECS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17E9BB-85EC-4642-BD89-9D70527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816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25AA05-A162-4B80-BA5E-88551511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95900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.github/workflows/deploy.yml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BFC494-D85D-48A4-8946-1D8C6300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816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56A42D-01AA-4B4D-A30F-FBA576C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1F1BC8-FF74-4108-82FC-F703B04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Technical stack: README.md and docs/SETUP.md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A3A30B-713D-42AC-A94D-D3AF21E4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84838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B8E43-E72F-4F79-BA95-27A30A02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2C4B7-0189-4432-95C8-75DB6EB2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5B778-0F42-4294-91D8-400BF13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807D3E3B-0A1E-4597-9E9D-A6C52130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MONITORING AND OBSERVABILITY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E68C7-6E2A-49C1-976C-F9B756E2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Observability closes the loop between research and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8F9CF-FC04-4E31-B01F-E1D4BC7A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same metrics support dashboards, alerts, and experimental measurement.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5ef48b31e4023"/>
          <a:srcRect xmlns:a="http://schemas.openxmlformats.org/drawingml/2006/main" l="0" t="6355" r="0" b="6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324100"/>
            <a:ext cx="3143250" cy="18097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e9f526ced480d"/>
          <a:srcRect xmlns:a="http://schemas.openxmlformats.org/drawingml/2006/main" l="1175" t="0" r="11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2324100"/>
            <a:ext cx="31432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205b1dc534ee9"/>
          <a:srcRect xmlns:a="http://schemas.openxmlformats.org/drawingml/2006/main" l="1175" t="0" r="11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2324100"/>
            <a:ext cx="31432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22CFE-4BC3-4627-8A2C-D6F4C533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BBF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40BF0-4964-4B3C-8FF8-281B8D6E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BBF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B88B5-55BF-46A9-9211-C7E626FE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241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BBF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57B5F-BB5D-4859-BBF7-956A6E04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DC5E1-6252-4FD2-A5A8-C44F393D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10+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5E7AD-EAEE-43D3-8867-8D0619E9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Prometheus model and API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80EE5-F786-4384-8995-FE5E938D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2705A-465B-417F-AF15-7BF22D6C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43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AFD2D-04DB-4BE5-A574-E0D8519B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Grafana dashboards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FE37A-A3C6-408C-B93D-7084516E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291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40A6E-7730-40F6-BF36-A2664C94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434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42746-F981-4B9C-BDDE-7A5C13D6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244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Prometheus alert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F6F5A-0C71-4881-873B-DC959026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Key signals: rolling accuracy, error rate, drift events, retrains, latency, throughput, model version.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DBB0A-3222-441C-BD18-F80DF10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DE5AE-C879-4596-8D30-832EC11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Monitoring guide: docs/MONITORING.md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39D30-89BD-4F01-8299-5C95B1A2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71335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BE105-4AAE-4734-B054-8DB1C37E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D73BC-02CE-4B50-978A-3C76C031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4D4AE-4693-4FF5-8B3F-D6D04C25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E816571E-25AE-4CB8-A13F-C2703722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EXPERIMENTAL RIGOR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56EB3-2307-4CB2-971F-0C303079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experiment harness evaluates drift as a stream, not a static split.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2D48C-1056-4091-A1B2-1749767F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Prequential testing measures prediction first, then updates the online model with the observed label.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53633-2791-45F7-ABB0-8428805A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D4C8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DF5F3-CBB3-4D45-BE1B-0C00D9A1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Stream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BC2E5-9523-410A-9341-233EB24E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SEA and rotating hyperplane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A81A0-E489-4B1B-82FE-9128149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62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16E6E-CA60-4DB4-B59E-93ADF4CC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2401F-1D29-4754-A469-F88CE3EE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146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Predict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9166A-B2FD-4913-BAF4-495BB0B6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004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test-before-train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DAC87-ACB8-46FA-BB15-131D7B64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62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21C2E-D7D9-49E7-A726-67441433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D4C8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C775F-B86A-4DAB-A4A9-A6A2EFB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F5362-AECE-486B-A7C5-0FB587C1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six drift detectors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819FB-D6A2-4355-9653-D610B7E0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62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9D07C-7C55-4CD2-88D3-E3E451C8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37222-146F-410D-AA69-FD4D6384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Adapt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E1AC4-4D49-44BC-873B-45DDAF49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reset or reload on event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4D967-514E-4E70-8DD1-7AE4EC7D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BE0CE-E20C-48C0-BAE8-5D9C1307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D4C8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8786A-A1A6-4952-9D85-5A9B50E7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7E1C6-9DDD-47A7-AC9C-64A461E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accuracy, delay, FP, latency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36BF9-A9BC-4DA6-A4E0-B1725754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21DCA0-CCF8-43E8-B39F-124843E7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6299A-E3CF-4042-8D13-2A277690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146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83E4C4-2C55-4F2D-A1FD-5FD3DD97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04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Friedman/Nemenyi ranks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10816F-6ED3-401A-A584-F176C95A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181F35-3990-42AA-BFDB-E01AF517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805807-E0F0-48D1-AF93-BC076275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checked-in compact benchmark rows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52D8EB-308C-4162-B92C-08E83A38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B800FF-0F8A-4EA5-A8FC-680F3005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62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D0F090-C0AE-4421-ADEB-829D1339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434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detectors compared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539C2A-AB36-429C-8F89-66C81B42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481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79D7A1-F12B-4CE0-9D2C-5EC47987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624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DBD2B9-A05E-4F99-89C2-B474AB8C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434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seeds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43BC38-C8E4-4E31-BAB4-8867DD2F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613385-BFDC-48E4-93C3-25C6AEEF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F35240-03EA-414A-B346-B68E506C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434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synthetic drift streams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29D6E3-6B4B-426B-9911-88F4DA36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704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F3E503-6BA6-4878-A0FB-63761535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1E8FE0-BAB8-443C-BAFE-8BEBE6B9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672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8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8B5A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8FEBBA-A4AA-4F10-9872-12E7170F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672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refreshed stats file now has enough blocks for applicable tests across accuracy, penalized detection delay, and false-positive rate.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C75ABE-AFEE-43E1-970C-D462735E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38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E8F8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EA6A4D-928D-4F1F-80D6-62EF401D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959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Reproducible command in docs/RESULTS.md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3B2F29-6E85-465B-BA48-58CD2E0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11B1AF-B7B2-47E2-9B26-586FE766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Harness: src/pipelines/experiment.py and src/pipelines/prequential.py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51F7BA-1A00-4552-8211-FE54CEE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864025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EF1A6-7B54-4632-90D2-A7379CF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ECDC2-EA75-41CF-9855-6814D038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E8B7C-7E8A-4747-9CC9-C29B852E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AB2FB7AB-9366-441C-8A94-16702EAA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 AND STATISTICS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62207-C8EC-4734-BF4C-42E52939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refreshed benchmark makes the statistical analysis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BED14-FF82-4CB0-82CB-DD59A03B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Compact multi-seed artifacts are checked in for review; the full benchmark command remains available for longer runs.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06fa913dd450d"/>
          <a:stretch xmlns:a="http://schemas.openxmlformats.org/drawingml/2006/main"/>
        </p:blipFill>
        <p:spPr>
          <a:xfrm xmlns:a="http://schemas.openxmlformats.org/drawingml/2006/main">
            <a:off x="590550" y="2548890"/>
            <a:ext cx="3429000" cy="164592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84cb41b7a480e"/>
          <a:stretch xmlns:a="http://schemas.openxmlformats.org/drawingml/2006/main"/>
        </p:blipFill>
        <p:spPr>
          <a:xfrm xmlns:a="http://schemas.openxmlformats.org/drawingml/2006/main">
            <a:off x="4267200" y="2481263"/>
            <a:ext cx="3143250" cy="178117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d97843b654515"/>
          <a:stretch xmlns:a="http://schemas.openxmlformats.org/drawingml/2006/main"/>
        </p:blipFill>
        <p:spPr>
          <a:xfrm xmlns:a="http://schemas.openxmlformats.org/drawingml/2006/main">
            <a:off x="7658100" y="2735036"/>
            <a:ext cx="3429000" cy="127362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42C76-0C30-49D8-8D7C-E3DB9F8B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CFA08-5F40-4EDF-896D-7C809F46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8F8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E8F8F"/>
                </a:solidFill>
                <a:latin typeface="Georgia"/>
                <a:ea typeface="Georgia"/>
                <a:cs typeface="Georgia"/>
              </a:rPr>
              <a:t>p=0.0010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C55A3-2631-4084-B6FF-FD786622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accuracy Friedman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6715F-20DC-4F1D-8F87-2E85BD92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70B25-2B46-4568-919E-B3C9FCE0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720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8C2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D98C2B"/>
                </a:solidFill>
                <a:latin typeface="Georgia"/>
                <a:ea typeface="Georgia"/>
                <a:cs typeface="Georgia"/>
              </a:rPr>
              <a:t>p=0.00018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F3CA4-F33E-4BAA-8286-8E051B7C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530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penalized delay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85718-682F-41A7-BB06-4650089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57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81EBB-56B0-4411-A0AF-6A06EEBB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8F8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E8F8F"/>
                </a:solidFill>
                <a:latin typeface="Georgia"/>
                <a:ea typeface="Georgia"/>
                <a:cs typeface="Georgia"/>
              </a:rPr>
              <a:t>p=0.0013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FAD22-CC65-4C8C-B826-46AD539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530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false-positive-rate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F7037-200F-439F-BE8E-800D9FA2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19650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47077-2A27-4358-B348-E02F0FD4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196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7BF82-2B64-4E76-AF2C-1ABA7B47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339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61C26-FE56-4AD7-AE4A-D341310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62550"/>
            <a:ext cx="243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HybridDD matches the top compact-run accuracy and zero false positives; KSWIN is faster on short synthetic delay but much noisier.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1EE4C-230B-4293-8238-7AD68D0B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8F8E3-A5AE-4D3B-BA67-2C08AC0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Results: experiments/results/results.csv and experiments/results/stats.json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EAE89-B717-46DD-8ACE-D071C4C8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27407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14344A-D6CD-4385-833A-7BF2E65F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4A24F-C9AA-45CC-9EE1-44BDD780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6754A-331E-485F-8AD3-DE09E656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5D7AE2CD-97C7-4383-BE99-3B74BC0C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15-MINUTE PRESENTATION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CF622-CC7C-4872-AC29-83CA2ED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live demo sequence follows the rubric exactly.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0DA3B-1B23-40DC-8DF1-75A0B6ED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 the video/screenshots as fallback, then show the live stack if Docker is running.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6E9BA-BE12-47BC-A7E0-A48A104C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0AB5B-0ED2-42B4-990E-56E271F0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0:00-2:00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0EDD6-3B85-442A-BCF2-C68B07C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24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 + novelty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84AC6-5D7C-45A2-B2FB-E2064815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HybridDD and research questions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9ED08-467B-4E29-AEBC-EA41D87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274D1-04FC-4BB1-AC71-77D1DA49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2:00-5:00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B3026-68D5-4160-9000-1F2D8DA7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464F6-BDA6-4B7E-9EBF-5F32AF5F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Docker services and data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F3A6E-C53E-4D4D-B18E-377E40F4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5CB64-0743-4894-8C08-AE26E20D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5:00-8:00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1AFA2-4C9D-4E59-865F-27849376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290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0F387-C7ED-40C6-B416-A9F8A498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API, MLflow, CI/CD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02916-D89B-4570-AED1-20D3BF2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2D123-6800-4CB8-9357-8A971827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8:00-11:00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94188-E666-4427-9713-89A39D6B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814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89FD0-FCB0-4F0F-9D03-9039CC64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Prometheus targets and Grafana dashboards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35233-B8BA-4BF4-9AA6-9C632286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9AA98-59D2-4131-94F1-FE640EF4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11:00-14:00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12AA2-CDED-4BB7-AD12-5EB5E7A4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339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507CB4-BBCA-48F3-AF67-59334CE4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Results, stats, trade-offs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086ED-53C0-4D58-A1BC-3178331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E07662-CC33-4AA7-BBCC-538B19F1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14:00-15:00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BC5C23-264F-4189-9D01-B6D91D20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863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Rubric close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FAF1EA-C2C6-4AF6-B9DF-67DE4019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054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100/100 checklist and Q&amp;A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b602f5f8d4930"/>
          <a:srcRect xmlns:a="http://schemas.openxmlformats.org/drawingml/2006/main" l="0" t="13995" r="0" b="139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2343150"/>
            <a:ext cx="2857500" cy="15621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00cb659654b69"/>
          <a:srcRect xmlns:a="http://schemas.openxmlformats.org/drawingml/2006/main" l="0" t="1384" r="0" b="1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4133850"/>
            <a:ext cx="2857500" cy="15621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193A32-1E1C-4AB3-9DC5-79C2C214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A6F9A3-80B9-4AEC-97B4-BA7D478A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9316D-6BCF-4DA5-BC29-C5BC9FF9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62650"/>
            <a:ext cx="624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F"/>
                </a:solidFill>
                <a:latin typeface="Aptos"/>
                <a:ea typeface="Aptos"/>
                <a:cs typeface="Aptos"/>
              </a:rPr>
              <a:t>Demo order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71665A-FF32-4461-B856-6922FA71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62484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FastAPI docs -&gt; /health -&gt; /predict -&gt; MLflow -&gt; Prometheus targets -&gt; Grafana dashboards -&gt; results files.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AC7A1C-2B80-43E0-874C-D1FA5651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58B3AD-A6C0-4A57-B05F-D5AEB16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Presentation script: docs/DEMO_GUIDE.md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51C57C-459E-4E3A-A3FB-3869211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01763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F045AC-8C5C-4930-8E48-62B28C3B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5B859-8760-4C68-8AD2-7AA9C31C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4EB0A-8E33-43A8-88AE-CE2624E1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70A22A41-02D4-4FE1-8784-88DCBEE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FINAL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79C6E-6AE0-4CDB-9047-D5772050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defense closes with evidence, trade-offs, and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06B4C-B9F2-40E8-94AD-ACE86B40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The project can be graded from the repository, demonstrated live, and questioned from the research paper.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0A438-EDB1-4EBC-9F39-E84CA6EB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1B95F-3C2C-49B8-8566-33565EE4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8B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8B5A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BA10D-BBBD-4F3B-9463-B2580FAE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research novelty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BF625-AF7A-45B6-9B22-FF71578A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46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5DB0E-AFF0-48C1-A602-5A301757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289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8B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8B5A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77A84-96D9-4F70-A2A4-2B96C830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15C58-D934-444A-B577-FD2535D6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146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ADDF3-8101-4C25-B595-4ABA6BF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8B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8B5A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EB3EE-5825-4B40-B838-5A6422DE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E03F8-4EFD-475C-9067-C113D0A7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146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BDFE0-02DE-43ED-9BB2-4E47B46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289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8B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8B5A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A9353-5B17-4D68-82F4-8EB0813A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5092F-7942-4E5F-B714-FD3FC1E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B55DD-52A8-42E5-B8B4-B25D963A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8B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8B5A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CC857-ED28-46C1-A5B2-9A8BDC1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D19CE-2E85-47C7-8328-B2970456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146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B607A-70A9-474B-980D-C895813F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8B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8B5A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8B56E-0F90-4BBC-B9AF-93EA2139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09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documentation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0BD23-E84F-48A4-B1DA-B8D10F32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4953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7C34E-3DA7-4AA6-BE5A-3B5769CF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029F0B-38C8-4F73-9A49-FA8147A5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C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C2B"/>
                </a:solidFill>
                <a:latin typeface="Aptos"/>
                <a:ea typeface="Aptos"/>
                <a:cs typeface="Aptos"/>
              </a:rPr>
              <a:t>Q&amp;A anchors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B0FAE-E6D5-471C-B140-4642CE38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62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Why HybridDD? 2. Why prequential evaluation? 3. Why penalized delay? 4. How does monitoring trigger adaptation? 5. What would change in AWS production?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30662-2983-4118-B64A-83C30333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05300"/>
            <a:ext cx="4095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7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DC43E0-B0A7-497A-B359-699CE512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053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4D4F2E-E36C-470B-98A0-0D4A2B11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19600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8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8B5A"/>
                </a:solidFill>
                <a:latin typeface="Aptos"/>
                <a:ea typeface="Aptos"/>
                <a:cs typeface="Aptos"/>
              </a:rPr>
              <a:t>Final answer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2637EA-D49A-4199-B008-72B6662F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377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This is a complete, reproducible MLOps research pipeline with a clear detector contribution and operational proof.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EF1DBD-5FA2-4520-A6CD-89E88CCC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F1B70B-983B-4878-9B07-62FEDF69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Ready for live presentation and final submission.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6DF840-13AC-49D9-9EA4-D1A4DCFF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13200D-C2A6-4C91-8120-8C593160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Final package: presentation/Drift-Aware-MLOps-Final-Defense.pptx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3EBFB7-053B-4372-A76D-24324B2B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6975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2026-05-06T16:58:32.2260000Z</dcterms:created>
  <dcterms:modified xsi:type="dcterms:W3CDTF">2026-05-06T16:58:32.2260000Z</dcterms:modified>
</coreProperties>
</file>